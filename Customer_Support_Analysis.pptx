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377</c:v>
                </c:pt>
                <c:pt idx="1">
                  <c:v>376</c:v>
                </c:pt>
                <c:pt idx="2">
                  <c:v>324</c:v>
                </c:pt>
                <c:pt idx="3">
                  <c:v>354</c:v>
                </c:pt>
                <c:pt idx="4">
                  <c:v>322</c:v>
                </c:pt>
                <c:pt idx="5">
                  <c:v>358</c:v>
                </c:pt>
                <c:pt idx="6">
                  <c:v>366</c:v>
                </c:pt>
                <c:pt idx="7">
                  <c:v>327</c:v>
                </c:pt>
                <c:pt idx="8">
                  <c:v>362</c:v>
                </c:pt>
                <c:pt idx="9">
                  <c:v>340</c:v>
                </c:pt>
                <c:pt idx="10">
                  <c:v>350</c:v>
                </c:pt>
                <c:pt idx="11">
                  <c:v>346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E2-4DA8-809A-1C9C3AD8A5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D4AC0D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359</c:v>
                </c:pt>
                <c:pt idx="1">
                  <c:v>339</c:v>
                </c:pt>
                <c:pt idx="2">
                  <c:v>348</c:v>
                </c:pt>
                <c:pt idx="3">
                  <c:v>364</c:v>
                </c:pt>
                <c:pt idx="4">
                  <c:v>379</c:v>
                </c:pt>
                <c:pt idx="5">
                  <c:v>320</c:v>
                </c:pt>
                <c:pt idx="6">
                  <c:v>361</c:v>
                </c:pt>
                <c:pt idx="7">
                  <c:v>364</c:v>
                </c:pt>
                <c:pt idx="8">
                  <c:v>327</c:v>
                </c:pt>
                <c:pt idx="9">
                  <c:v>362</c:v>
                </c:pt>
                <c:pt idx="10">
                  <c:v>364</c:v>
                </c:pt>
                <c:pt idx="11">
                  <c:v>350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E2-4DA8-809A-1C9C3AD8A5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Closed %</c:v>
                </c:pt>
              </c:strCache>
            </c:strRef>
          </c:tx>
          <c:spPr>
            <a:solidFill>
              <a:srgbClr val="E91E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34.1</c:v>
                </c:pt>
                <c:pt idx="1">
                  <c:v>33.81</c:v>
                </c:pt>
                <c:pt idx="2">
                  <c:v>31.66</c:v>
                </c:pt>
                <c:pt idx="3">
                  <c:v>31.22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85-4464-9526-1932F2F69D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Open %</c:v>
                </c:pt>
              </c:strCache>
            </c:strRef>
          </c:tx>
          <c:spPr>
            <a:solidFill>
              <a:srgbClr val="1A3A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65.900000000000006</c:v>
                </c:pt>
                <c:pt idx="1">
                  <c:v>66.19</c:v>
                </c:pt>
                <c:pt idx="2">
                  <c:v>68.34</c:v>
                </c:pt>
                <c:pt idx="3">
                  <c:v>68.78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85-4464-9526-1932F2F69D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Electronics &amp; Gadgets</c:v>
                </c:pt>
                <c:pt idx="1">
                  <c:v>Computers &amp; Software</c:v>
                </c:pt>
                <c:pt idx="2">
                  <c:v>Gaming &amp; Entertainment</c:v>
                </c:pt>
                <c:pt idx="3">
                  <c:v>Home Appliances</c:v>
                </c:pt>
                <c:pt idx="4">
                  <c:v>Other</c:v>
                </c:pt>
                <c:pt idx="5">
                  <c:v>Cameras &amp; Acc.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2100</c:v>
                </c:pt>
                <c:pt idx="1">
                  <c:v>1500</c:v>
                </c:pt>
                <c:pt idx="2">
                  <c:v>1300</c:v>
                </c:pt>
                <c:pt idx="3">
                  <c:v>1300</c:v>
                </c:pt>
                <c:pt idx="4">
                  <c:v>1200</c:v>
                </c:pt>
                <c:pt idx="5">
                  <c:v>1100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94-4697-AD1A-F10C3B1BDD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32C-4C61-8423-62C1314611D9}"/>
              </c:ext>
            </c:extLst>
          </c:dPt>
          <c:dPt>
            <c:idx val="1"/>
            <c:bubble3D val="0"/>
            <c:spPr>
              <a:solidFill>
                <a:srgbClr val="1A52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2C-4C61-8423-62C1314611D9}"/>
              </c:ext>
            </c:extLst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2C-4C61-8423-62C1314611D9}"/>
              </c:ext>
            </c:extLst>
          </c:dPt>
          <c:dPt>
            <c:idx val="3"/>
            <c:bubble3D val="0"/>
            <c:spPr>
              <a:solidFill>
                <a:srgbClr val="D4AC0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32C-4C61-8423-62C1314611D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32C-4C61-8423-62C1314611D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32C-4C61-8423-62C1314611D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32C-4C61-8423-62C1314611D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32C-4C61-8423-62C1314611D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Email</c:v>
                </c:pt>
                <c:pt idx="1">
                  <c:v>Phone</c:v>
                </c:pt>
                <c:pt idx="2">
                  <c:v>Social Media</c:v>
                </c:pt>
                <c:pt idx="3">
                  <c:v>Chat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2143</c:v>
                </c:pt>
                <c:pt idx="1">
                  <c:v>2132</c:v>
                </c:pt>
                <c:pt idx="2">
                  <c:v>2121</c:v>
                </c:pt>
                <c:pt idx="3">
                  <c:v>2073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32C-4C61-8423-62C131461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Closed Tickets by Rating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Closed Tickets</c:v>
                </c:pt>
              </c:strCache>
            </c:strRef>
          </c:tx>
          <c:spPr>
            <a:solidFill>
              <a:srgbClr val="E91E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Rating 1</c:v>
                </c:pt>
                <c:pt idx="1">
                  <c:v>Rating 2</c:v>
                </c:pt>
                <c:pt idx="2">
                  <c:v>Rating 3</c:v>
                </c:pt>
                <c:pt idx="3">
                  <c:v>Rating 4</c:v>
                </c:pt>
                <c:pt idx="4">
                  <c:v>Rating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553</c:v>
                </c:pt>
                <c:pt idx="1">
                  <c:v>549</c:v>
                </c:pt>
                <c:pt idx="2">
                  <c:v>580</c:v>
                </c:pt>
                <c:pt idx="3">
                  <c:v>543</c:v>
                </c:pt>
                <c:pt idx="4">
                  <c:v>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17-4ABC-85E5-62A9A1467B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Tickets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7D3C9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36-46</c:v>
                </c:pt>
                <c:pt idx="3">
                  <c:v>47-59</c:v>
                </c:pt>
                <c:pt idx="4">
                  <c:v>60+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1285</c:v>
                </c:pt>
                <c:pt idx="1">
                  <c:v>1594</c:v>
                </c:pt>
                <c:pt idx="2">
                  <c:v>1732</c:v>
                </c:pt>
                <c:pt idx="3">
                  <c:v>2127</c:v>
                </c:pt>
                <c:pt idx="4">
                  <c:v>1731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0C-41AA-9855-B1AC31A3EF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06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Analysis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Insights Report  |  2020–2021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analysis of 8,469 support tickets across channels, products, priorities &amp; customer segments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73152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8,469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68580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08960" y="685800"/>
            <a:ext cx="73152" cy="13716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868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TTs 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97880" y="68580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97880" y="685800"/>
            <a:ext cx="73152" cy="13716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868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19.35 hrs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8076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24028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240280"/>
            <a:ext cx="73152" cy="13716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423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9.61 hrs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0292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 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0" y="224028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08960" y="2240280"/>
            <a:ext cx="73152" cy="137160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0" y="2423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2.99 / 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29184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224028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97880" y="2240280"/>
            <a:ext cx="73152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80760" y="2423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08076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TTs 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883F37-621C-B835-4170-67D40AFF1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24" y="601912"/>
            <a:ext cx="8140644" cy="44370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Ticket Volume Trend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594360"/>
          <a:ext cx="84124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Priority — Open vs Closed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594360"/>
          <a:ext cx="84124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by Product Category &amp; Channel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594360"/>
          <a:ext cx="51206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577840" y="594360"/>
          <a:ext cx="32918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&amp; Age-Group Breakdown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854261380"/>
              </p:ext>
            </p:extLst>
          </p:nvPr>
        </p:nvGraphicFramePr>
        <p:xfrm>
          <a:off x="365760" y="594360"/>
          <a:ext cx="4433219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1117464553"/>
              </p:ext>
            </p:extLst>
          </p:nvPr>
        </p:nvGraphicFramePr>
        <p:xfrm>
          <a:off x="5000017" y="594360"/>
          <a:ext cx="3869663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40080"/>
            <a:ext cx="4206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64008" cy="1325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Open Rate Across All Priorities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65–69% of tickets remain unresolved regardless of priority level, indicating systemic backlog issues that need process intervention.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640080"/>
            <a:ext cx="4206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640080"/>
            <a:ext cx="64008" cy="13258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71323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Dominates Volume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02412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Gadgets accounts for the most tickets (~2.1K), suggesting a need for improved self-service resources or product QA.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103120"/>
            <a:ext cx="4206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2103120"/>
            <a:ext cx="64008" cy="132588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1762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Distribution is Near-Equal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48716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channels (Email, Phone, Chat, Social) handle ~25% of tickets each — a balanced multi-channel model.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103120"/>
            <a:ext cx="4206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103120"/>
            <a:ext cx="64008" cy="132588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1762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Customers File More Tickets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48716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47–59 age bracket generates the highest volume (2,127), warranting age-targeted support optimisation.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566160"/>
            <a:ext cx="4206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566160"/>
            <a:ext cx="64008" cy="132588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6393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Fairly Uniform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95020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1–5 all hover around 544–580 resolved tickets, suggesting satisfaction is not strongly linked to resolution speed.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4206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566160"/>
            <a:ext cx="64008" cy="1325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6393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 Faster Than Response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95020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(9.61 hrs) is significantly lower than response time (19.35 hrs) — first response lag is the primary bottleneck.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0" y="1691640"/>
            <a:ext cx="274320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EDA reveals that the customer support system handles a large, diverse ticket volume. The primary challenges are high open-ticket rates and slow first-response times. Prioritising automation for initial responses, strengthening Electronics support resources, and targeting the 47–59 age segment with dedicated support workflows are key next steps.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Microsoft Office PowerPoint</Application>
  <PresentationFormat>On-screen Show (16:9)</PresentationFormat>
  <Paragraphs>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Support Ticket Analysis</dc:title>
  <dc:subject>PptxGenJS Presentation</dc:subject>
  <dc:creator>PptxGenJS</dc:creator>
  <cp:lastModifiedBy>Khan, Moiz [C]</cp:lastModifiedBy>
  <cp:revision>2</cp:revision>
  <dcterms:created xsi:type="dcterms:W3CDTF">2026-04-12T17:18:49Z</dcterms:created>
  <dcterms:modified xsi:type="dcterms:W3CDTF">2026-04-27T15:42:51Z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2026-04-27T15:42:50Z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4fcba2f4-aaba-47f8-a33b-fae632b6fdfe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